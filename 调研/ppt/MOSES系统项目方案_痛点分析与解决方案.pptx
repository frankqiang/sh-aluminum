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440815"/>
            <a:ext cx="6250940" cy="638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MOSES系统项目方案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2000" y="2231529"/>
            <a:ext cx="233126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500"/>
              </a:spcAft>
              <a:buNone/>
            </a:pPr>
            <a:r>
              <a:rPr lang="en-US" sz="20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痛点分析与解决方案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882354"/>
            <a:ext cx="888950" cy="38100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174355"/>
            <a:ext cx="2862429" cy="5280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Bef>
                <a:spcPts val="20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基于现场调研，梳理当前生产管理痛点</a:t>
            </a:r>
            <a:endParaRPr lang="en-US" sz="1300" dirty="0"/>
          </a:p>
          <a:p>
            <a:pPr marL="0" indent="0" algn="l">
              <a:lnSpc>
                <a:spcPts val="2080"/>
              </a:lnSpc>
              <a:spcBef>
                <a:spcPts val="20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提出MOSES系统整体解决方案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31956" y="4635550"/>
            <a:ext cx="680996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2026年2月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63413"/>
            <a:ext cx="2533013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 - 企业现状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1015901"/>
            <a:ext cx="3654177" cy="3937099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302" y="1269802"/>
            <a:ext cx="3209303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企业概况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8302" y="1606302"/>
            <a:ext cx="634901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302" y="1784003"/>
            <a:ext cx="3209303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一家专业生产各类铝箔卷的制造企业，产品涵盖电池箔、双零箔等多种类型。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8302" y="2330053"/>
            <a:ext cx="3209303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目前生产管理主要依赖</a:t>
            </a: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Excel表格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和</a:t>
            </a: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人工协调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8302" y="2666554"/>
            <a:ext cx="3209303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随着产能扩大和客户质量要求提升，现有管理方式面临较大压力。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16028" y="1015901"/>
            <a:ext cx="4283571" cy="393709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9929" y="1269802"/>
            <a:ext cx="385128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主要生产设备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9929" y="1669852"/>
            <a:ext cx="634901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9929" y="1847552"/>
            <a:ext cx="2155180" cy="444401"/>
          </a:xfrm>
          <a:prstGeom prst="roundRect">
            <a:avLst>
              <a:gd name="adj" fmla="val 14289"/>
            </a:avLst>
          </a:prstGeom>
          <a:solidFill>
            <a:srgbClr val="F8F9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8979" y="1847552"/>
            <a:ext cx="0" cy="44440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0429" y="1974503"/>
            <a:ext cx="62543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台 轧机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9929" y="2418904"/>
            <a:ext cx="2155180" cy="444401"/>
          </a:xfrm>
          <a:prstGeom prst="roundRect">
            <a:avLst>
              <a:gd name="adj" fmla="val 14289"/>
            </a:avLst>
          </a:prstGeom>
          <a:solidFill>
            <a:srgbClr val="F8F9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8979" y="2418904"/>
            <a:ext cx="0" cy="44440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0429" y="2545854"/>
            <a:ext cx="76782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台 分切机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9929" y="2990255"/>
            <a:ext cx="2155180" cy="444401"/>
          </a:xfrm>
          <a:prstGeom prst="roundRect">
            <a:avLst>
              <a:gd name="adj" fmla="val 14289"/>
            </a:avLst>
          </a:prstGeom>
          <a:solidFill>
            <a:srgbClr val="F8F9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88979" y="2990255"/>
            <a:ext cx="0" cy="44440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0429" y="3117205"/>
            <a:ext cx="76782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台 精切机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9929" y="3561606"/>
            <a:ext cx="2155180" cy="444401"/>
          </a:xfrm>
          <a:prstGeom prst="roundRect">
            <a:avLst>
              <a:gd name="adj" fmla="val 14289"/>
            </a:avLst>
          </a:prstGeom>
          <a:solidFill>
            <a:srgbClr val="F8F9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8979" y="3561606"/>
            <a:ext cx="0" cy="44440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0429" y="3688556"/>
            <a:ext cx="76782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r>
              <a:rPr lang="en-US" sz="11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台 退火炉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4401" y="4457700"/>
            <a:ext cx="8255198" cy="495300"/>
          </a:xfrm>
          <a:prstGeom prst="roundRect">
            <a:avLst>
              <a:gd name="adj" fmla="val 12821"/>
            </a:avLst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40571" y="4610100"/>
            <a:ext cx="291996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胚料出库 → 轧机 → 分切 → 精切/退火 → 包装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50763"/>
            <a:ext cx="2820379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现状痛点 - 四大核心问题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863501"/>
            <a:ext cx="4063901" cy="1194792"/>
          </a:xfrm>
          <a:prstGeom prst="roundRect">
            <a:avLst>
              <a:gd name="adj" fmla="val 531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82551"/>
            <a:ext cx="4063901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0540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606" y="1054001"/>
            <a:ext cx="28493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251" y="1093589"/>
            <a:ext cx="93268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计划管理分散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1434852"/>
            <a:ext cx="383428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32个Excel Sheet分散管理轧机/分切/精切计划，无汇总视图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1671042"/>
            <a:ext cx="1878657" cy="234851"/>
          </a:xfrm>
          <a:prstGeom prst="roundRect">
            <a:avLst>
              <a:gd name="adj" fmla="val 16223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1721793"/>
            <a:ext cx="176078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影响：信息不同步、难以把握整体进度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97301" y="863501"/>
            <a:ext cx="4063901" cy="1194792"/>
          </a:xfrm>
          <a:prstGeom prst="roundRect">
            <a:avLst>
              <a:gd name="adj" fmla="val 531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97301" y="882551"/>
            <a:ext cx="4063901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9701" y="10540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907" y="1054001"/>
            <a:ext cx="28493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0552" y="1093589"/>
            <a:ext cx="186537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质量评审不规范且传递断链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49701" y="1434852"/>
            <a:ext cx="383428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评审信息采用自由文本描述不统一，需手动复制传递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49701" y="1671042"/>
            <a:ext cx="1777008" cy="234851"/>
          </a:xfrm>
          <a:prstGeom prst="roundRect">
            <a:avLst>
              <a:gd name="adj" fmla="val 16223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1721793"/>
            <a:ext cx="16571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影响：难以统计分析、信息传递断链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1000" y="2210693"/>
            <a:ext cx="4063901" cy="1194792"/>
          </a:xfrm>
          <a:prstGeom prst="roundRect">
            <a:avLst>
              <a:gd name="adj" fmla="val 531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1000" y="2229743"/>
            <a:ext cx="4063901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240119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606" y="2401193"/>
            <a:ext cx="28493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251" y="2440781"/>
            <a:ext cx="108813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在制品追踪困难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400" y="2782044"/>
            <a:ext cx="383428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约1000个分切子卷堆在现场，靠人工找料，位置靠记忆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3400" y="3018234"/>
            <a:ext cx="1574006" cy="234851"/>
          </a:xfrm>
          <a:prstGeom prst="roundRect">
            <a:avLst>
              <a:gd name="adj" fmla="val 16223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9600" y="3068985"/>
            <a:ext cx="145003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影响：找料困难、呆滞料不可见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97301" y="2210693"/>
            <a:ext cx="4063901" cy="1194792"/>
          </a:xfrm>
          <a:prstGeom prst="roundRect">
            <a:avLst>
              <a:gd name="adj" fmla="val 531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97301" y="2229743"/>
            <a:ext cx="4063901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9701" y="240119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46907" y="2401193"/>
            <a:ext cx="28493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0552" y="2440781"/>
            <a:ext cx="108813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订单进度不透明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49701" y="2782044"/>
            <a:ext cx="383428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订单无状态跟踪，多卷订单靠人工统计，无逾期预警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9701" y="3018234"/>
            <a:ext cx="1777008" cy="234851"/>
          </a:xfrm>
          <a:prstGeom prst="roundRect">
            <a:avLst>
              <a:gd name="adj" fmla="val 16223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5901" y="3068985"/>
            <a:ext cx="16571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影响：交期管理困难、客户投诉风险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71450"/>
            <a:ext cx="649635" cy="292001"/>
          </a:xfrm>
          <a:prstGeom prst="roundRect">
            <a:avLst>
              <a:gd name="adj" fmla="val 13048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22200"/>
            <a:ext cx="40364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46436" y="150763"/>
            <a:ext cx="1554176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计划管理分散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4401" y="888950"/>
            <a:ext cx="4000649" cy="410215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079450"/>
            <a:ext cx="3692042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现状描述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400026"/>
            <a:ext cx="507950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552277"/>
            <a:ext cx="3619649" cy="1193006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计划表分散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：轧机/分切/精切计划分布在32个Excel Sheet中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无汇总视图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：计划员需在Sheet间频繁切换，难以一眼把握进度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信息不同步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：轧机下料后，分切计划需手动更新可用料清单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版本混乱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：计划修改后无历史记录，出问题时难以追溯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950" y="888950"/>
            <a:ext cx="4000649" cy="410215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9450" y="1079450"/>
            <a:ext cx="3692042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具体表现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9450" y="1400026"/>
            <a:ext cx="507950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89450" y="1552277"/>
            <a:ext cx="3619649" cy="367903"/>
          </a:xfrm>
          <a:prstGeom prst="rect">
            <a:avLst/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08500" y="1552277"/>
            <a:ext cx="0" cy="36790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4501" y="1653778"/>
            <a:ext cx="3394201" cy="164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计划员每天需要在32个Sheet间切换查看各机台进度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89450" y="2021681"/>
            <a:ext cx="3619649" cy="532805"/>
          </a:xfrm>
          <a:prstGeom prst="rect">
            <a:avLst/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08500" y="2021681"/>
            <a:ext cx="0" cy="532805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4501" y="2123182"/>
            <a:ext cx="3394201" cy="329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轧机完成后，需手动将信息复制到轧制跨在制料表供分切参考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89450" y="2655987"/>
            <a:ext cx="3619649" cy="367903"/>
          </a:xfrm>
          <a:prstGeom prst="rect">
            <a:avLst/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08500" y="2655987"/>
            <a:ext cx="0" cy="36790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4501" y="2757488"/>
            <a:ext cx="3394201" cy="164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计划调整后，其他人不知道改了什么、为什么改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4401" y="4451449"/>
            <a:ext cx="8255198" cy="501551"/>
          </a:xfrm>
          <a:prstGeom prst="roundRect">
            <a:avLst>
              <a:gd name="adj" fmla="val 12661"/>
            </a:avLst>
          </a:prstGeom>
          <a:solidFill>
            <a:srgbClr val="FFF3E0"/>
          </a:solidFill>
          <a:ln w="9525">
            <a:solidFill>
              <a:srgbClr val="FFCC8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426" y="4587925"/>
            <a:ext cx="431602" cy="228600"/>
          </a:xfrm>
          <a:prstGeom prst="roundRect">
            <a:avLst>
              <a:gd name="adj" fmla="val 16667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5927" y="4626025"/>
            <a:ext cx="2331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28427" y="4626025"/>
            <a:ext cx="300527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计划员工作量大易遗漏 · 信息同步滞后 · 计划调整无法追溯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71450"/>
            <a:ext cx="649635" cy="292001"/>
          </a:xfrm>
          <a:prstGeom prst="roundRect">
            <a:avLst>
              <a:gd name="adj" fmla="val 13048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22200"/>
            <a:ext cx="40364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46436" y="174575"/>
            <a:ext cx="2641857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质量评审不规范且传递断链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4401" y="825401"/>
            <a:ext cx="5035451" cy="1733252"/>
          </a:xfrm>
          <a:prstGeom prst="roundRect">
            <a:avLst>
              <a:gd name="adj" fmla="val 3664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977801"/>
            <a:ext cx="482526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问题一：描述不规范（同一缺陷，不同描述）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6801" y="1304776"/>
            <a:ext cx="2301776" cy="1101477"/>
          </a:xfrm>
          <a:prstGeom prst="roundRect">
            <a:avLst>
              <a:gd name="adj" fmla="val 4612"/>
            </a:avLst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751" y="1431727"/>
            <a:ext cx="208883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Q侧针孔问题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3751" y="1669852"/>
            <a:ext cx="20888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Q侧890-990针孔切除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3751" y="1873002"/>
            <a:ext cx="20888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Q890-990针孔密集需切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751" y="2076152"/>
            <a:ext cx="20888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Q侧890mm处有针孔要切掉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25527" y="1304776"/>
            <a:ext cx="2301925" cy="1101477"/>
          </a:xfrm>
          <a:prstGeom prst="roundRect">
            <a:avLst>
              <a:gd name="adj" fmla="val 4612"/>
            </a:avLst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52477" y="1431727"/>
            <a:ext cx="20889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边部辊印问题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2477" y="1669852"/>
            <a:ext cx="20889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C侧辊印避白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2477" y="1873002"/>
            <a:ext cx="20889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C边辊印要避开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2477" y="2076152"/>
            <a:ext cx="208898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C25辊印切除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4401" y="2685604"/>
            <a:ext cx="2441525" cy="1694557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6801" y="2838004"/>
            <a:ext cx="217946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问题二：信息传递断链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801" y="3104704"/>
            <a:ext cx="444401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6801" y="3231505"/>
            <a:ext cx="2136725" cy="784324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质量评审结果写在Excel备注列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计划员需手动复制到分切计划的说明列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包装需到共享文件夹查看评审信息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料可能已到工位，但评审还没出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8326" y="2685604"/>
            <a:ext cx="2441525" cy="1694557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90726" y="2838004"/>
            <a:ext cx="217946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问题三：风险隐患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90726" y="3104704"/>
            <a:ext cx="444401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90726" y="3231505"/>
            <a:ext cx="2136725" cy="932855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没有统一的缺陷类型编码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位置表述方式不一致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处理方式表述不统一（切除/避白混用）</a:t>
            </a:r>
            <a:endParaRPr lang="en-US" sz="900" dirty="0"/>
          </a:p>
          <a:p>
            <a:pPr marL="88900" indent="-88900" algn="l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存在未评审先生产的风险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4401" y="4540448"/>
            <a:ext cx="8255198" cy="450652"/>
          </a:xfrm>
          <a:prstGeom prst="roundRect">
            <a:avLst>
              <a:gd name="adj" fmla="val 11273"/>
            </a:avLst>
          </a:prstGeom>
          <a:solidFill>
            <a:srgbClr val="FFF3E0"/>
          </a:solidFill>
          <a:ln w="9525">
            <a:solidFill>
              <a:srgbClr val="FFCC8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6326" y="4651474"/>
            <a:ext cx="431602" cy="228600"/>
          </a:xfrm>
          <a:prstGeom prst="roundRect">
            <a:avLst>
              <a:gd name="adj" fmla="val 16667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7827" y="4689574"/>
            <a:ext cx="2331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4878" y="4689574"/>
            <a:ext cx="242234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难以统计分析 · 理解歧义 · 评审信息滞后或漏传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71450"/>
            <a:ext cx="649635" cy="292001"/>
          </a:xfrm>
          <a:prstGeom prst="roundRect">
            <a:avLst>
              <a:gd name="adj" fmla="val 13048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22200"/>
            <a:ext cx="40364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46436" y="150763"/>
            <a:ext cx="181315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在制品追踪困难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4401" y="888950"/>
            <a:ext cx="4000649" cy="410215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079450"/>
            <a:ext cx="3692042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现状描述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400026"/>
            <a:ext cx="507950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552277"/>
            <a:ext cx="3619649" cy="1193006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找料困难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：分切完成后大量子卷堆在现场，精切人员需在大量料卷中寻找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位置信息模糊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：料卷位置靠手写或口头传递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状态不可见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：无法实时知道现在有多少料等待精切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呆滞料隐藏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：长期未处理的料卷可能被遗忘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950" y="888950"/>
            <a:ext cx="4000649" cy="410215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9450" y="1079450"/>
            <a:ext cx="3692042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现场数据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9450" y="1400026"/>
            <a:ext cx="507950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3254" y="1704677"/>
            <a:ext cx="3692042" cy="619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~1000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53254" y="2400002"/>
            <a:ext cx="369204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个分切子卷堆在现场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89450" y="2895302"/>
            <a:ext cx="3619649" cy="609302"/>
          </a:xfrm>
          <a:prstGeom prst="roundRect">
            <a:avLst>
              <a:gd name="adj" fmla="val 8337"/>
            </a:avLst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6401" y="3022253"/>
            <a:ext cx="3433063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精切人员拿到计划后，需要凭经验在现场寻找对应料卷。有时料明明在那里，但找了半天才找到。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401" y="4451449"/>
            <a:ext cx="8255198" cy="501551"/>
          </a:xfrm>
          <a:prstGeom prst="roundRect">
            <a:avLst>
              <a:gd name="adj" fmla="val 12661"/>
            </a:avLst>
          </a:prstGeom>
          <a:solidFill>
            <a:srgbClr val="FFF3E0"/>
          </a:solidFill>
          <a:ln w="9525">
            <a:solidFill>
              <a:srgbClr val="FFCC8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426" y="4587925"/>
            <a:ext cx="431602" cy="228600"/>
          </a:xfrm>
          <a:prstGeom prst="roundRect">
            <a:avLst>
              <a:gd name="adj" fmla="val 16667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4626025"/>
            <a:ext cx="2331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28427" y="4626025"/>
            <a:ext cx="323844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找料时间长影响效率 · 在制品积压不透明 · 呆滞料占用场地资源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71450"/>
            <a:ext cx="649635" cy="292001"/>
          </a:xfrm>
          <a:prstGeom prst="roundRect">
            <a:avLst>
              <a:gd name="adj" fmla="val 13048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22200"/>
            <a:ext cx="40364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46436" y="150763"/>
            <a:ext cx="181315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订单进度不透明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4401" y="888950"/>
            <a:ext cx="3866406" cy="410215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079450"/>
            <a:ext cx="35551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现状描述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400026"/>
            <a:ext cx="507950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552277"/>
            <a:ext cx="3485406" cy="1548408"/>
          </a:xfrm>
          <a:prstGeom prst="rect">
            <a:avLst/>
          </a:prstGeom>
          <a:noFill/>
        </p:spPr>
        <p:txBody>
          <a:bodyPr wrap="square" lIns="10160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无状态跟踪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：订单没有明确的状态标记（待排产/生产中/已完成）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人工统计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：一个订单需多卷料满足时，靠人工统计已完成多少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无逾期预警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：交期临近时才发现可能赶不上，无提前预警</a:t>
            </a:r>
            <a:endParaRPr lang="en-US" sz="1000" dirty="0"/>
          </a:p>
          <a:p>
            <a:pPr marL="0" indent="0" algn="l">
              <a:lnSpc>
                <a:spcPts val="140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重排困难</a:t>
            </a: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：质量问题导致订单需重新匹配料卷时，进度更难追踪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64707" y="888950"/>
            <a:ext cx="3866406" cy="410215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5207" y="1079450"/>
            <a:ext cx="3555114" cy="219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具体表现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5207" y="1400026"/>
            <a:ext cx="507950" cy="25301"/>
          </a:xfrm>
          <a:prstGeom prst="rect">
            <a:avLst/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55207" y="1552277"/>
            <a:ext cx="3485406" cy="367903"/>
          </a:xfrm>
          <a:prstGeom prst="rect">
            <a:avLst/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74257" y="1552277"/>
            <a:ext cx="0" cy="36790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0258" y="1653778"/>
            <a:ext cx="3257273" cy="164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订单优先级主要靠计划员记忆和经验判断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5207" y="2021681"/>
            <a:ext cx="3485406" cy="367903"/>
          </a:xfrm>
          <a:prstGeom prst="rect">
            <a:avLst/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74257" y="2021681"/>
            <a:ext cx="0" cy="36790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0258" y="2123182"/>
            <a:ext cx="3257273" cy="164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客户问我的订单做到哪了，需要翻多张Excel表统计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5207" y="2491085"/>
            <a:ext cx="3485406" cy="367903"/>
          </a:xfrm>
          <a:prstGeom prst="rect">
            <a:avLst/>
          </a:prstGeom>
          <a:solidFill>
            <a:srgbClr val="FFF8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74257" y="2491085"/>
            <a:ext cx="0" cy="36790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0258" y="2592586"/>
            <a:ext cx="3257273" cy="164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某个订单差一卷没做完，可能直到发货时才发现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4401" y="4451449"/>
            <a:ext cx="8255198" cy="501551"/>
          </a:xfrm>
          <a:prstGeom prst="roundRect">
            <a:avLst>
              <a:gd name="adj" fmla="val 12661"/>
            </a:avLst>
          </a:prstGeom>
          <a:solidFill>
            <a:srgbClr val="FFF3E0"/>
          </a:solidFill>
          <a:ln w="9525">
            <a:solidFill>
              <a:srgbClr val="FFCC8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4426" y="4587925"/>
            <a:ext cx="431602" cy="228600"/>
          </a:xfrm>
          <a:prstGeom prst="roundRect">
            <a:avLst>
              <a:gd name="adj" fmla="val 16667"/>
            </a:avLst>
          </a:prstGeom>
          <a:solidFill>
            <a:srgbClr val="E76F5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5927" y="4626025"/>
            <a:ext cx="23317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28427" y="4626025"/>
            <a:ext cx="358820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交期管理被动逾期风险高 · 客户询问无法快速响应 · 多卷订单容易遗漏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38113"/>
            <a:ext cx="3044291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 - MES系统四大模块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36402"/>
            <a:ext cx="4317802" cy="981075"/>
          </a:xfrm>
          <a:prstGeom prst="roundRect">
            <a:avLst>
              <a:gd name="adj" fmla="val 647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863352"/>
            <a:ext cx="386358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351" y="901452"/>
            <a:ext cx="26474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95809" y="863352"/>
            <a:ext cx="364756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计划管理分散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5809" y="1076027"/>
            <a:ext cx="3647563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统一平台管理所有计划，提供生产看板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809" y="1291233"/>
            <a:ext cx="532954" cy="183952"/>
          </a:xfrm>
          <a:prstGeom prst="roundRect">
            <a:avLst>
              <a:gd name="adj" fmla="val 20712"/>
            </a:avLst>
          </a:prstGeom>
          <a:solidFill>
            <a:srgbClr val="E8F4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9210" y="1316534"/>
            <a:ext cx="41427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排产模块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1000" y="1844427"/>
            <a:ext cx="4317802" cy="981075"/>
          </a:xfrm>
          <a:prstGeom prst="roundRect">
            <a:avLst>
              <a:gd name="adj" fmla="val 647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1971377"/>
            <a:ext cx="386358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351" y="2009477"/>
            <a:ext cx="26474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5809" y="1971377"/>
            <a:ext cx="364756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质量评审传递断链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95809" y="2184053"/>
            <a:ext cx="3647563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评审信息结构化录入，自动同步到各环节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5809" y="2399258"/>
            <a:ext cx="532954" cy="183952"/>
          </a:xfrm>
          <a:prstGeom prst="roundRect">
            <a:avLst>
              <a:gd name="adj" fmla="val 20712"/>
            </a:avLst>
          </a:prstGeom>
          <a:solidFill>
            <a:srgbClr val="E8F4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9210" y="2424559"/>
            <a:ext cx="41427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质量模块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1000" y="2952452"/>
            <a:ext cx="4317802" cy="981075"/>
          </a:xfrm>
          <a:prstGeom prst="roundRect">
            <a:avLst>
              <a:gd name="adj" fmla="val 647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3079403"/>
            <a:ext cx="386358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351" y="3117503"/>
            <a:ext cx="26474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95809" y="3079403"/>
            <a:ext cx="364756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在制品追踪困难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5809" y="3292078"/>
            <a:ext cx="3647563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在制品实时可视，位置可查，呆滞预警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5809" y="3507284"/>
            <a:ext cx="736104" cy="183952"/>
          </a:xfrm>
          <a:prstGeom prst="roundRect">
            <a:avLst>
              <a:gd name="adj" fmla="val 20712"/>
            </a:avLst>
          </a:prstGeom>
          <a:solidFill>
            <a:srgbClr val="E8F4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59210" y="3532584"/>
            <a:ext cx="62148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物料管理模块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1000" y="4060478"/>
            <a:ext cx="4317802" cy="981075"/>
          </a:xfrm>
          <a:prstGeom prst="roundRect">
            <a:avLst>
              <a:gd name="adj" fmla="val 647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7950" y="4187428"/>
            <a:ext cx="386358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1351" y="4225528"/>
            <a:ext cx="26474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痛点4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95809" y="4187428"/>
            <a:ext cx="364756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订单进度不透明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5809" y="4400104"/>
            <a:ext cx="3647563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订单状态实时跟踪，交期预警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5809" y="4615309"/>
            <a:ext cx="736104" cy="183952"/>
          </a:xfrm>
          <a:prstGeom prst="roundRect">
            <a:avLst>
              <a:gd name="adj" fmla="val 20712"/>
            </a:avLst>
          </a:prstGeom>
          <a:solidFill>
            <a:srgbClr val="E8F4F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59210" y="4640610"/>
            <a:ext cx="62148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生产执行模块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85738"/>
            <a:ext cx="761851" cy="263426"/>
          </a:xfrm>
          <a:prstGeom prst="roundRect">
            <a:avLst>
              <a:gd name="adj" fmla="val 14463"/>
            </a:avLst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36488"/>
            <a:ext cx="51810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58652" y="169813"/>
            <a:ext cx="3031236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排产模块：解决计划管理分散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825401"/>
            <a:ext cx="5856387" cy="1691878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6801" y="1322189"/>
            <a:ext cx="5551587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1066651"/>
            <a:ext cx="142483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统一排产平台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93702" y="1066651"/>
            <a:ext cx="242432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轧机/分切/精切三层计划在同一系统中管理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70487" y="1066651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取代32个Sheet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6801" y="1671340"/>
            <a:ext cx="5551587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801" y="1415802"/>
            <a:ext cx="142483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生产看板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3702" y="1415802"/>
            <a:ext cx="242432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实时显示各机台的计划进度、在制数量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70487" y="1415802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一眼看清整体状况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801" y="2020491"/>
            <a:ext cx="5551587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801" y="1764953"/>
            <a:ext cx="142483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计划联动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93702" y="1764953"/>
            <a:ext cx="242432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轧机完成自动更新可分切料清单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70487" y="1764953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信息实时同步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6801" y="2114104"/>
            <a:ext cx="142483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修改留痕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93702" y="2114104"/>
            <a:ext cx="242432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所有计划调整保留修改记录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70487" y="2114104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可追溯谁改了什么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4401" y="2644229"/>
            <a:ext cx="5856387" cy="1202829"/>
          </a:xfrm>
          <a:prstGeom prst="roundRect">
            <a:avLst>
              <a:gd name="adj" fmla="val 5279"/>
            </a:avLst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1285" y="2771180"/>
            <a:ext cx="566261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生产计划看板示意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801" y="3034605"/>
            <a:ext cx="1311771" cy="685502"/>
          </a:xfrm>
          <a:prstGeom prst="roundRect">
            <a:avLst>
              <a:gd name="adj" fmla="val 7411"/>
            </a:avLst>
          </a:prstGeom>
          <a:solidFill>
            <a:srgbClr val="FFFFF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7214" y="3136106"/>
            <a:ext cx="1130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轧机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7214" y="3351907"/>
            <a:ext cx="113094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今日计划12卷 | 已完成8卷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10073" y="3034605"/>
            <a:ext cx="1311771" cy="685502"/>
          </a:xfrm>
          <a:prstGeom prst="roundRect">
            <a:avLst>
              <a:gd name="adj" fmla="val 7411"/>
            </a:avLst>
          </a:prstGeom>
          <a:solidFill>
            <a:srgbClr val="FFFFF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00486" y="3136106"/>
            <a:ext cx="1130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0486" y="3351907"/>
            <a:ext cx="113094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今日计划45卷 | 已完成32卷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23345" y="3034605"/>
            <a:ext cx="1311771" cy="685502"/>
          </a:xfrm>
          <a:prstGeom prst="roundRect">
            <a:avLst>
              <a:gd name="adj" fmla="val 7411"/>
            </a:avLst>
          </a:prstGeom>
          <a:solidFill>
            <a:srgbClr val="FFFFF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13758" y="3136106"/>
            <a:ext cx="1130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13758" y="3351907"/>
            <a:ext cx="113094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今日计划120卷 | 已完成95卷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36616" y="3034605"/>
            <a:ext cx="1311771" cy="685502"/>
          </a:xfrm>
          <a:prstGeom prst="roundRect">
            <a:avLst>
              <a:gd name="adj" fmla="val 7411"/>
            </a:avLst>
          </a:prstGeom>
          <a:solidFill>
            <a:srgbClr val="2ECC71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27029" y="3136106"/>
            <a:ext cx="113094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27029" y="3351907"/>
            <a:ext cx="113094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订单完成率: 87%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85738"/>
            <a:ext cx="761851" cy="263426"/>
          </a:xfrm>
          <a:prstGeom prst="roundRect">
            <a:avLst>
              <a:gd name="adj" fmla="val 14463"/>
            </a:avLst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36488"/>
            <a:ext cx="51810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58652" y="179338"/>
            <a:ext cx="3523083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质量模块：解决评审不规范与传递断链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4401" y="825401"/>
            <a:ext cx="2386161" cy="2714179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977801"/>
            <a:ext cx="212298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6801" y="1254026"/>
            <a:ext cx="444401" cy="25301"/>
          </a:xfrm>
          <a:prstGeom prst="rect">
            <a:avLst/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6801" y="1406277"/>
            <a:ext cx="212298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结构化录入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：缺陷类型、位置、处理方式采用下拉选择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6801" y="1802457"/>
            <a:ext cx="212298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流程卡点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：评审完成后才能进入下道工序报工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6801" y="2198638"/>
            <a:ext cx="212298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实时同步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：评审完成后计划员/包装立即可见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6801" y="2594818"/>
            <a:ext cx="212298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权限分级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：轻微问题当班生效，降级/报废需工程师确认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6801" y="2990999"/>
            <a:ext cx="212298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辅助展示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：自动显示客户要求及历史案例参考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21062" y="825401"/>
            <a:ext cx="2386310" cy="2268885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73462" y="977801"/>
            <a:ext cx="212314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结构化录入示例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73462" y="1295251"/>
            <a:ext cx="2081510" cy="260152"/>
          </a:xfrm>
          <a:prstGeom prst="roundRect">
            <a:avLst>
              <a:gd name="adj" fmla="val 14645"/>
            </a:avLst>
          </a:prstGeom>
          <a:solidFill>
            <a:srgbClr val="F0F0F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74963" y="1358652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01083" y="1358652"/>
            <a:ext cx="6387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录入方式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27352" y="1358652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示例值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73462" y="1858417"/>
            <a:ext cx="208151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4963" y="1656904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缺陷类型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01083" y="1656904"/>
            <a:ext cx="6387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下拉选择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7352" y="1656904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针孔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73462" y="2128093"/>
            <a:ext cx="208151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4963" y="1926580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位置-侧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01083" y="1926580"/>
            <a:ext cx="6387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下拉选择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7352" y="1926580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Q侧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73462" y="2397770"/>
            <a:ext cx="208151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4963" y="2196257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位置-起始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01083" y="2196257"/>
            <a:ext cx="6387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数值输入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27352" y="2196257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890mm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73462" y="2667446"/>
            <a:ext cx="208151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4963" y="2465933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位置-终止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01083" y="2465933"/>
            <a:ext cx="6387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数值输入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27352" y="2465933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990mm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73462" y="2937123"/>
            <a:ext cx="208151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4963" y="2735610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处理方式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01083" y="2735610"/>
            <a:ext cx="6387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下拉选择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27352" y="2735610"/>
            <a:ext cx="6386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切除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85738"/>
            <a:ext cx="761851" cy="263426"/>
          </a:xfrm>
          <a:prstGeom prst="roundRect">
            <a:avLst>
              <a:gd name="adj" fmla="val 14463"/>
            </a:avLst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36488"/>
            <a:ext cx="51810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58652" y="174575"/>
            <a:ext cx="352247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物料管理模块：解决在制品追踪困难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4401" y="825401"/>
            <a:ext cx="6400056" cy="1914525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6801" y="1296888"/>
            <a:ext cx="609525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1054001"/>
            <a:ext cx="155448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在制品状态看板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20801" y="1054001"/>
            <a:ext cx="28492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实时显示各环节的在制品数量和状态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14156" y="1054001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一眼看清现场有多少料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6801" y="1620738"/>
            <a:ext cx="609525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801" y="1377851"/>
            <a:ext cx="155448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料卷状态流转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0801" y="1377851"/>
            <a:ext cx="28492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每卷料有状态标记（已下料、质检中、可分切等）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4156" y="1377851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知道每卷料在哪个环节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801" y="1944588"/>
            <a:ext cx="609525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801" y="1701701"/>
            <a:ext cx="155448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位置管理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20801" y="1701701"/>
            <a:ext cx="28492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分切下料时记录料框号，精切前可查询位置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4156" y="1701701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减少找料时间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801" y="2268438"/>
            <a:ext cx="609525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801" y="2025551"/>
            <a:ext cx="155448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呆滞料预警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20801" y="2025551"/>
            <a:ext cx="28492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超过N天未处理的料卷自动预警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4156" y="2025551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避免料卷积压被遗忘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801" y="2349401"/>
            <a:ext cx="155448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扫码查询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0801" y="2349401"/>
            <a:ext cx="284922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现场可扫码查看料卷信息、历史轨迹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4156" y="2349401"/>
            <a:ext cx="181345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快速验证料卷信息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4401" y="2866876"/>
            <a:ext cx="6400056" cy="1279029"/>
          </a:xfrm>
          <a:prstGeom prst="roundRect">
            <a:avLst>
              <a:gd name="adj" fmla="val 4965"/>
            </a:avLst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5848" y="2993827"/>
            <a:ext cx="621716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在制品状态看板示意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6801" y="3257252"/>
            <a:ext cx="1947118" cy="761702"/>
          </a:xfrm>
          <a:prstGeom prst="roundRect">
            <a:avLst>
              <a:gd name="adj" fmla="val 6669"/>
            </a:avLst>
          </a:prstGeom>
          <a:solidFill>
            <a:srgbClr val="FFFFF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0860" y="3358753"/>
            <a:ext cx="17789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轧机到分切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0860" y="3574554"/>
            <a:ext cx="177899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等待分切: 23卷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0860" y="3746004"/>
            <a:ext cx="177899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质检中: 5卷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70870" y="3257252"/>
            <a:ext cx="1947118" cy="761702"/>
          </a:xfrm>
          <a:prstGeom prst="roundRect">
            <a:avLst>
              <a:gd name="adj" fmla="val 6669"/>
            </a:avLst>
          </a:prstGeom>
          <a:solidFill>
            <a:srgbClr val="FFFFFF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54929" y="3358753"/>
            <a:ext cx="17789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分切到精切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54929" y="3574554"/>
            <a:ext cx="177899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等待精切: 156卷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54929" y="3746004"/>
            <a:ext cx="177899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质检中: 28卷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44938" y="3257252"/>
            <a:ext cx="1947118" cy="761702"/>
          </a:xfrm>
          <a:prstGeom prst="roundRect">
            <a:avLst>
              <a:gd name="adj" fmla="val 6669"/>
            </a:avLst>
          </a:prstGeom>
          <a:solidFill>
            <a:srgbClr val="E76F51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28998" y="3358753"/>
            <a:ext cx="17789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呆滞预警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998" y="3574554"/>
            <a:ext cx="177899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超3天未处理: 12卷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28998" y="3746004"/>
            <a:ext cx="177899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超7天未处理: 3卷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85738"/>
            <a:ext cx="761851" cy="263426"/>
          </a:xfrm>
          <a:prstGeom prst="roundRect">
            <a:avLst>
              <a:gd name="adj" fmla="val 14463"/>
            </a:avLst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351" y="236488"/>
            <a:ext cx="51810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58652" y="174575"/>
            <a:ext cx="3522476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生产执行模块：解决订单进度不透明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4401" y="825401"/>
            <a:ext cx="2915543" cy="245745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977801"/>
            <a:ext cx="266295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6801" y="1254026"/>
            <a:ext cx="444401" cy="25301"/>
          </a:xfrm>
          <a:prstGeom prst="rect">
            <a:avLst/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6801" y="1406277"/>
            <a:ext cx="266295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订单状态跟踪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：待排产-生产中-待包装-已完成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6801" y="1655118"/>
            <a:ext cx="2662958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订单进度汇总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：自动统计已完成重量/卷数，显示完成百分比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6801" y="2063948"/>
            <a:ext cx="266295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交期预警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：交期前N天自动提醒订单可能完不成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6801" y="2312789"/>
            <a:ext cx="2662958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多卷关联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：同一订单多卷料自动关联，完成一卷自动更新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6801" y="2721620"/>
            <a:ext cx="2662958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报工确认</a:t>
            </a:r>
            <a:r>
              <a:rPr lang="en-US" sz="9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：现场完成后扫码报工，系统自动更新进度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50444" y="825401"/>
            <a:ext cx="3207246" cy="2770138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02844" y="977801"/>
            <a:ext cx="296049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订单跟踪示意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2844" y="1269802"/>
            <a:ext cx="2902446" cy="545902"/>
          </a:xfrm>
          <a:prstGeom prst="roundRect">
            <a:avLst>
              <a:gd name="adj" fmla="val 9306"/>
            </a:avLst>
          </a:prstGeom>
          <a:solidFill>
            <a:srgbClr val="F8F9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04345" y="1371302"/>
            <a:ext cx="27534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订单号:</a:t>
            </a: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SZ2601280123 | </a:t>
            </a:r>
            <a:r>
              <a:rPr lang="en-US" sz="8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客户:</a:t>
            </a: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河北兴恒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04345" y="1542752"/>
            <a:ext cx="275343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规格:</a:t>
            </a: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13um x 872mm x 12000m | </a:t>
            </a:r>
            <a:r>
              <a:rPr lang="en-US" sz="800" b="1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交期:</a:t>
            </a: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2026-02-05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02844" y="1917204"/>
            <a:ext cx="296049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进度: 60%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02844" y="2133005"/>
            <a:ext cx="2902446" cy="126950"/>
          </a:xfrm>
          <a:prstGeom prst="roundRect">
            <a:avLst>
              <a:gd name="adj" fmla="val 30012"/>
            </a:avLst>
          </a:prstGeom>
          <a:solidFill>
            <a:srgbClr val="EEEE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02844" y="2133005"/>
            <a:ext cx="1741438" cy="126950"/>
          </a:xfrm>
          <a:prstGeom prst="rect">
            <a:avLst/>
          </a:prstGeom>
          <a:solidFill>
            <a:srgbClr val="2ECC7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02844" y="2323356"/>
            <a:ext cx="296049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需求: 50吨 | 已完成: 30吨 | 剩余: 20吨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02844" y="2848421"/>
            <a:ext cx="290244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2844" y="2634258"/>
            <a:ext cx="25204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Y2601301/1-1 (10吨)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73837" y="2608957"/>
            <a:ext cx="431453" cy="183952"/>
          </a:xfrm>
          <a:prstGeom prst="roundRect">
            <a:avLst>
              <a:gd name="adj" fmla="val 13808"/>
            </a:avLst>
          </a:prstGeom>
          <a:solidFill>
            <a:srgbClr val="D5F5E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37238" y="2634258"/>
            <a:ext cx="31074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已完成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2844" y="3143399"/>
            <a:ext cx="290244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2844" y="2929235"/>
            <a:ext cx="25204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Y2601301/2-1 (10吨)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3837" y="2903934"/>
            <a:ext cx="431453" cy="183952"/>
          </a:xfrm>
          <a:prstGeom prst="roundRect">
            <a:avLst>
              <a:gd name="adj" fmla="val 13808"/>
            </a:avLst>
          </a:prstGeom>
          <a:solidFill>
            <a:srgbClr val="D5F5E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7238" y="2929235"/>
            <a:ext cx="31074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已完成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02844" y="3438376"/>
            <a:ext cx="2902446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2844" y="3224213"/>
            <a:ext cx="25204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Y2601302/1-1 (预计10吨)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73837" y="3198912"/>
            <a:ext cx="431453" cy="183952"/>
          </a:xfrm>
          <a:prstGeom prst="roundRect">
            <a:avLst>
              <a:gd name="adj" fmla="val 13808"/>
            </a:avLst>
          </a:prstGeom>
          <a:solidFill>
            <a:srgbClr val="FEF3C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37238" y="3224213"/>
            <a:ext cx="31074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精切中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31713"/>
            <a:ext cx="1709776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系统价值总结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825401"/>
            <a:ext cx="7848600" cy="233243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351" y="952351"/>
            <a:ext cx="774659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使用前后对比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351" y="1253877"/>
            <a:ext cx="7594699" cy="304800"/>
          </a:xfrm>
          <a:prstGeom prst="roundRect">
            <a:avLst>
              <a:gd name="adj" fmla="val 12500"/>
            </a:avLst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2852" y="1330077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69753" y="1330077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使用系统前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67151" y="1330077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使用系统后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351" y="1880741"/>
            <a:ext cx="75946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852" y="1660178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查看今天计划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69753" y="1660178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在32个Excel Sheet中切换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67151" y="1660178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打开生产看板，一屏全览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351" y="2169468"/>
            <a:ext cx="75946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852" y="1948904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了解订单进度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69753" y="1948904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人工统计各卷完成情况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67151" y="1948904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系统自动汇总，实时显示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351" y="2458194"/>
            <a:ext cx="75946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852" y="2237631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质量评审传递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69753" y="2237631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手动复制，可能漏看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67151" y="2237631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评审即时同步，漏不了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1351" y="2746921"/>
            <a:ext cx="75946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852" y="2526357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精切找料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69753" y="2526357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在1000个卷里凭经验找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67151" y="2526357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扫码查位置，快速定位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852" y="2815084"/>
            <a:ext cx="14248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5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发现逾期风险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69753" y="2815084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临近交期才发现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67151" y="2815084"/>
            <a:ext cx="305734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提前预警，留出调整时间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4401" y="3284786"/>
            <a:ext cx="1847850" cy="92958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4401" y="3303836"/>
            <a:ext cx="184785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1370" y="3475286"/>
            <a:ext cx="157391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提高效率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1370" y="3741986"/>
            <a:ext cx="1573911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减少手工复制、人工统计、找料时间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44651" y="3284786"/>
            <a:ext cx="1847850" cy="92958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444651" y="3303836"/>
            <a:ext cx="184785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1620" y="3475286"/>
            <a:ext cx="157391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减少错误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81620" y="3741986"/>
            <a:ext cx="157391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信息自动同步，流程卡点控制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44901" y="3284786"/>
            <a:ext cx="1847850" cy="92958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444901" y="3303836"/>
            <a:ext cx="184785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1870" y="3475286"/>
            <a:ext cx="157391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增强可控性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870" y="3741986"/>
            <a:ext cx="157391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实时掌握进度，异常及时预警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5151" y="3284786"/>
            <a:ext cx="1847850" cy="92958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445151" y="3303836"/>
            <a:ext cx="184785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2120" y="3475286"/>
            <a:ext cx="157391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CC7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支撑追溯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2120" y="3741986"/>
            <a:ext cx="157391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完整数据链条，问题可追溯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演示</Application>
  <PresentationFormat>On-screen Show (16:9)</PresentationFormat>
  <Paragraphs>456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铝箔制造MES项目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MES系统项目方案 - 痛点分析与解决方案</dc:title>
  <dc:creator>项目团队</dc:creator>
  <dc:subject>MES系统项目方案演示</dc:subject>
  <cp:lastModifiedBy>上善若水</cp:lastModifiedBy>
  <cp:revision>2</cp:revision>
  <dcterms:created xsi:type="dcterms:W3CDTF">2026-02-04T02:57:00Z</dcterms:created>
  <dcterms:modified xsi:type="dcterms:W3CDTF">2026-02-04T03:24:23Z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F7985A14B79D44D08B8817E09186CFDC_12</vt:lpwstr>
  </property>
</Properties>
</file>